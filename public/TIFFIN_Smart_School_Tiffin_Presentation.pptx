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12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E85D04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731520"/>
            <a:ext cx="4389120" cy="320040"/>
          </a:xfrm>
          <a:prstGeom prst="roundRect">
            <a:avLst>
              <a:gd name="adj" fmla="val 42857"/>
            </a:avLst>
          </a:prstGeom>
          <a:solidFill>
            <a:srgbClr val="382112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73152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DE6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🍱 SMART SCHOOL TIFFIN PLATFORM • DHAKA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123444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85D0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TIFFIN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31520" y="21031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Next-Gen Paediatric Nutrition, Insulated Hot-Chain Logistics &amp; AI Meal Intelligence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74320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D4C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full-stack, enterprise-grade school lunch ecosystem delivering fresh, certified nutritionist-approved hot meals (68°C guaranteed) to students across premier schools in Dhaka, Bangladesh.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31520" y="3566160"/>
            <a:ext cx="2377440" cy="822960"/>
          </a:xfrm>
          <a:prstGeom prst="roundRect">
            <a:avLst>
              <a:gd name="adj" fmla="val 11111"/>
            </a:avLst>
          </a:prstGeom>
          <a:solidFill>
            <a:srgbClr val="261E18"/>
          </a:solidFill>
          <a:ln w="12700">
            <a:solidFill>
              <a:srgbClr val="42332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365760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🇧🇩 100% BDT Pricing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68680" y="39776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4C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Plans from ৳220/day • 77+ menu items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383280" y="3566160"/>
            <a:ext cx="2377440" cy="822960"/>
          </a:xfrm>
          <a:prstGeom prst="roundRect">
            <a:avLst>
              <a:gd name="adj" fmla="val 11111"/>
            </a:avLst>
          </a:prstGeom>
          <a:solidFill>
            <a:srgbClr val="261E18"/>
          </a:solidFill>
          <a:ln w="12700">
            <a:solidFill>
              <a:srgbClr val="42332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20440" y="365760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🌡️ 68°C Hot Delivery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520440" y="39776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4C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304 Stainless steel vacuum tiffins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035040" y="3566160"/>
            <a:ext cx="2377440" cy="822960"/>
          </a:xfrm>
          <a:prstGeom prst="roundRect">
            <a:avLst>
              <a:gd name="adj" fmla="val 11111"/>
            </a:avLst>
          </a:prstGeom>
          <a:solidFill>
            <a:srgbClr val="261E18"/>
          </a:solidFill>
          <a:ln w="12700">
            <a:solidFill>
              <a:srgbClr val="42332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72200" y="365760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🤖 AI Nutribot &amp; PDF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172200" y="39776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4C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2.5 Flash + WHO/AAP reports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31520" y="4709160"/>
            <a:ext cx="7680960" cy="0"/>
          </a:xfrm>
          <a:prstGeom prst="line">
            <a:avLst/>
          </a:prstGeom>
          <a:noFill/>
          <a:ln w="12700">
            <a:solidFill>
              <a:srgbClr val="382A2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48006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E7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TIFFIN • Smart School Tiffin Platform (Dhaka, Bangladesh)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217920" y="48006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 of 13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712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E85D0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MARKET REALITY &amp; PAIN POINTS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54864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School Lunch Challenge in Dhaka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96012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C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parents and children in Dhaka face severe obstacles in maintaining daily wholesome nutrition.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1371600"/>
            <a:ext cx="3749040" cy="1371600"/>
          </a:xfrm>
          <a:prstGeom prst="roundRect">
            <a:avLst>
              <a:gd name="adj" fmla="val 6667"/>
            </a:avLst>
          </a:prstGeom>
          <a:solidFill>
            <a:srgbClr val="261E18"/>
          </a:solidFill>
          <a:ln w="12700">
            <a:solidFill>
              <a:srgbClr val="4A2A2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1554480"/>
            <a:ext cx="457200" cy="365760"/>
          </a:xfrm>
          <a:prstGeom prst="roundRect">
            <a:avLst>
              <a:gd name="adj" fmla="val 20000"/>
            </a:avLst>
          </a:prstGeom>
          <a:solidFill>
            <a:srgbClr val="4A1A0A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15544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508760" y="155448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Morning Rush &amp; Parental Burnout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201168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D4C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Parents wake up at 5:00 AM to cook lunches before battling Dhaka traffic, causing severe daily stress and rushed meal choices.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1371600"/>
            <a:ext cx="3749040" cy="1371600"/>
          </a:xfrm>
          <a:prstGeom prst="roundRect">
            <a:avLst>
              <a:gd name="adj" fmla="val 6667"/>
            </a:avLst>
          </a:prstGeom>
          <a:solidFill>
            <a:srgbClr val="261E18"/>
          </a:solidFill>
          <a:ln w="12700">
            <a:solidFill>
              <a:srgbClr val="4A2A2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46320" y="1554480"/>
            <a:ext cx="457200" cy="365760"/>
          </a:xfrm>
          <a:prstGeom prst="roundRect">
            <a:avLst>
              <a:gd name="adj" fmla="val 20000"/>
            </a:avLst>
          </a:prstGeom>
          <a:solidFill>
            <a:srgbClr val="4A1A0A"/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0" y="15544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40680" y="155448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Unhealthy Canteen Junk &amp; Trans Fats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46320" y="201168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D4C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canteens predominantly sell processed fried snacks, trans-fat singaras, and high-sugar items leading to afternoon lethargy.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31520" y="2926080"/>
            <a:ext cx="3749040" cy="1371600"/>
          </a:xfrm>
          <a:prstGeom prst="roundRect">
            <a:avLst>
              <a:gd name="adj" fmla="val 6667"/>
            </a:avLst>
          </a:prstGeom>
          <a:solidFill>
            <a:srgbClr val="261E18"/>
          </a:solidFill>
          <a:ln w="12700">
            <a:solidFill>
              <a:srgbClr val="4A2A2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4400" y="3108960"/>
            <a:ext cx="457200" cy="365760"/>
          </a:xfrm>
          <a:prstGeom prst="roundRect">
            <a:avLst>
              <a:gd name="adj" fmla="val 20000"/>
            </a:avLst>
          </a:prstGeom>
          <a:solidFill>
            <a:srgbClr val="4A1A0A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31089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508760" y="310896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Cold, Soggy &amp; Bacteria-Prone Lunches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14400" y="356616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D4C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plastic lunchboxes drop below 40°C in 2 hours, breeding food-borne bacteria and causing soggy, unappetizing meals.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63440" y="2926080"/>
            <a:ext cx="3749040" cy="1371600"/>
          </a:xfrm>
          <a:prstGeom prst="roundRect">
            <a:avLst>
              <a:gd name="adj" fmla="val 6667"/>
            </a:avLst>
          </a:prstGeom>
          <a:solidFill>
            <a:srgbClr val="261E18"/>
          </a:solidFill>
          <a:ln w="12700">
            <a:solidFill>
              <a:srgbClr val="4A2A2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46320" y="3108960"/>
            <a:ext cx="457200" cy="365760"/>
          </a:xfrm>
          <a:prstGeom prst="roundRect">
            <a:avLst>
              <a:gd name="adj" fmla="val 20000"/>
            </a:avLst>
          </a:prstGeom>
          <a:solidFill>
            <a:srgbClr val="4A1A0A"/>
          </a:solidFill>
          <a:ln/>
        </p:spPr>
      </p:sp>
      <p:sp>
        <p:nvSpPr>
          <p:cNvPr id="23" name="Text 21"/>
          <p:cNvSpPr/>
          <p:nvPr/>
        </p:nvSpPr>
        <p:spPr>
          <a:xfrm>
            <a:off x="4846320" y="31089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40680" y="310896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Zero Allergen Segregation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846320" y="356616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D4C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institutional controls for children with peanut, dairy, gluten, egg, or seafood allergies, causing severe safety concerns.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31520" y="4709160"/>
            <a:ext cx="7680960" cy="0"/>
          </a:xfrm>
          <a:prstGeom prst="line">
            <a:avLst/>
          </a:prstGeom>
          <a:noFill/>
          <a:ln w="12700">
            <a:solidFill>
              <a:srgbClr val="382A2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1520" y="48006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E7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TIFFIN • Smart School Tiffin Platform (Dhaka, Bangladesh)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6217920" y="48006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 of 13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712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E85D0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OUR VALUE PROPOSITION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54864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TIFFIN Solution: Smart, Safe &amp; Nutritious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96012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C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turnkey subscription platform that guarantees hot, certified balanced meals delivered directly to school gates.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1371600"/>
            <a:ext cx="1828800" cy="3017520"/>
          </a:xfrm>
          <a:prstGeom prst="roundRect">
            <a:avLst>
              <a:gd name="adj" fmla="val 5000"/>
            </a:avLst>
          </a:prstGeom>
          <a:solidFill>
            <a:srgbClr val="261E18"/>
          </a:solidFill>
          <a:ln w="12700">
            <a:solidFill>
              <a:srgbClr val="382B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5087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🍲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22960" y="19202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Central Cloud Commissary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68680" y="2468880"/>
            <a:ext cx="15544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D4C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Cooked fresh each morning at 6:30 AM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D4C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Paediatrician-balanced macronutrients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D4C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Low sodium &amp; zero trans fats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697480" y="1371600"/>
            <a:ext cx="1828800" cy="3017520"/>
          </a:xfrm>
          <a:prstGeom prst="roundRect">
            <a:avLst>
              <a:gd name="adj" fmla="val 5000"/>
            </a:avLst>
          </a:prstGeom>
          <a:solidFill>
            <a:srgbClr val="261E18"/>
          </a:solidFill>
          <a:ln w="12700">
            <a:solidFill>
              <a:srgbClr val="382B2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34640" y="15087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🌡️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788920" y="19202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Thermal Vacuum Logistics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834640" y="2468880"/>
            <a:ext cx="15544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D4C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Food-grade 304 stainless steel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D4C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Double-wall vacuum insulation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D4C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Guaranteed 68°C at lunchtime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663440" y="1371600"/>
            <a:ext cx="1828800" cy="3017520"/>
          </a:xfrm>
          <a:prstGeom prst="roundRect">
            <a:avLst>
              <a:gd name="adj" fmla="val 5000"/>
            </a:avLst>
          </a:prstGeom>
          <a:solidFill>
            <a:srgbClr val="261E18"/>
          </a:solidFill>
          <a:ln w="12700">
            <a:solidFill>
              <a:srgbClr val="382B2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0600" y="15087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🛡️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754880" y="19202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Certified Food Safety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00600" y="2468880"/>
            <a:ext cx="15544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D4C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100% Nut-free dedicated facility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D4C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Strict allergen segregation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D4C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85°C autoclave sanitization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629400" y="1371600"/>
            <a:ext cx="1828800" cy="3017520"/>
          </a:xfrm>
          <a:prstGeom prst="roundRect">
            <a:avLst>
              <a:gd name="adj" fmla="val 5000"/>
            </a:avLst>
          </a:prstGeom>
          <a:solidFill>
            <a:srgbClr val="261E18"/>
          </a:solidFill>
          <a:ln w="12700">
            <a:solidFill>
              <a:srgbClr val="382B2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66560" y="15087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📱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720840" y="19202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Parent Freedom &amp; Flexibility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766560" y="2468880"/>
            <a:ext cx="15544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D4C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Pause meals up to 7:00 AM on the day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D4C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Instant wallet credit for sick days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D4C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Real-time temperature telemetry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731520" y="4709160"/>
            <a:ext cx="7680960" cy="0"/>
          </a:xfrm>
          <a:prstGeom prst="line">
            <a:avLst/>
          </a:prstGeom>
          <a:noFill/>
          <a:ln w="12700">
            <a:solidFill>
              <a:srgbClr val="382A2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48006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E7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TIFFIN • Smart School Tiffin Platform (Dhaka, Bangladesh)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6217920" y="48006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 of 13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712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E85D0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SUBSCRIPTION TIERS &amp; ECONOMICS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54864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 Paediatric Meal Plans &amp; Bangladeshi Taka (৳) Pricing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96012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C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Transparent, accessible subscription plans designed for varying appetites and developmental stages.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1371600"/>
            <a:ext cx="2468880" cy="3017520"/>
          </a:xfrm>
          <a:prstGeom prst="roundRect">
            <a:avLst>
              <a:gd name="adj" fmla="val 4444"/>
            </a:avLst>
          </a:prstGeom>
          <a:solidFill>
            <a:srgbClr val="261E18"/>
          </a:solidFill>
          <a:ln w="12700">
            <a:solidFill>
              <a:srgbClr val="4233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50876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POPULAR LITE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14400" y="178308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Basic Nourish Plan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210312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৳220 / day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242316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4C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৳1,100 / 5 Days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914400" y="26974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Nursery &amp; Primary (Ages 4-8)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914400" y="3017520"/>
            <a:ext cx="21031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D4C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Comforting home-style classics, gentle lentils, veggie pulao, mild paneer, and wholemeal rotis with hidden vegetable sugos.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383280" y="1371600"/>
            <a:ext cx="2468880" cy="3017520"/>
          </a:xfrm>
          <a:prstGeom prst="roundRect">
            <a:avLst>
              <a:gd name="adj" fmla="val 4444"/>
            </a:avLst>
          </a:prstGeom>
          <a:solidFill>
            <a:srgbClr val="332014"/>
          </a:solidFill>
          <a:ln w="25400">
            <a:solidFill>
              <a:srgbClr val="E85D0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66160" y="150876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RECOMMENDED BEST-SELLER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66160" y="178308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Standard Vitality Plan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566160" y="210312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৳320 / day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566160" y="242316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4C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৳1,600 / 5 Days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566160" y="26974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Active School Stamina (Ages 8-14)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566160" y="3017520"/>
            <a:ext cx="21031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D4C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High-protein grilled herb chicken wraps, chicken tikka, quinoa bowls, slow-release carbs, and fresh seasonal fruit bowls.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035040" y="1371600"/>
            <a:ext cx="2468880" cy="3017520"/>
          </a:xfrm>
          <a:prstGeom prst="roundRect">
            <a:avLst>
              <a:gd name="adj" fmla="val 4444"/>
            </a:avLst>
          </a:prstGeom>
          <a:solidFill>
            <a:srgbClr val="261E18"/>
          </a:solidFill>
          <a:ln w="12700">
            <a:solidFill>
              <a:srgbClr val="42332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17920" y="150876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CHEF SIGNATURE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6217920" y="178308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Premium Gourmet Bento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217920" y="210312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৳450 / day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217920" y="242316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4C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৳2,250 / 5 Days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217920" y="26974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Varsity Athletes &amp; Teens (Ages 12-18)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217920" y="3017520"/>
            <a:ext cx="21031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D4C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Wild Atlantic salmon teriyaki, lamb kofta, beef bulgogi, California maki rolls, DHA omega-3 seeds, and cold-pressed juices.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31520" y="4709160"/>
            <a:ext cx="7680960" cy="0"/>
          </a:xfrm>
          <a:prstGeom prst="line">
            <a:avLst/>
          </a:prstGeom>
          <a:noFill/>
          <a:ln w="12700">
            <a:solidFill>
              <a:srgbClr val="382A2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1520" y="48006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E7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TIFFIN • Smart School Tiffin Platform (Dhaka, Bangladesh)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6217920" y="48006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 of 13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712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E85D0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FAMILY CENTRIC EXPERIENCE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54864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Family &amp; Multi-Child Hub + Smart Tiffin Wallet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96012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C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Seamless multi-child lunch allocation with automated discounts and instant pause refunds.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1371600"/>
            <a:ext cx="3749040" cy="1371600"/>
          </a:xfrm>
          <a:prstGeom prst="roundRect">
            <a:avLst>
              <a:gd name="adj" fmla="val 6667"/>
            </a:avLst>
          </a:prstGeom>
          <a:solidFill>
            <a:srgbClr val="261E18"/>
          </a:solidFill>
          <a:ln w="12700">
            <a:solidFill>
              <a:srgbClr val="3A2B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5544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👨‍👩‍👧‍👦 Multi-Child Management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60120" y="192024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D4C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and manage multiple children with custom school names (Scholastica, Sunnydale, Sunbeams, AISD), grades, and lunch locker numbers.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663440" y="1371600"/>
            <a:ext cx="3749040" cy="1371600"/>
          </a:xfrm>
          <a:prstGeom prst="roundRect">
            <a:avLst>
              <a:gd name="adj" fmla="val 6667"/>
            </a:avLst>
          </a:prstGeom>
          <a:solidFill>
            <a:srgbClr val="261E18"/>
          </a:solidFill>
          <a:ln w="12700">
            <a:solidFill>
              <a:srgbClr val="3A2B2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15544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🏷️ 15% Automatic Family Discount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92040" y="192024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D4C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 automatically detects multi-member meal assignments and applies a 15% discount on the entire weekly family billing.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31520" y="2926080"/>
            <a:ext cx="3749040" cy="1371600"/>
          </a:xfrm>
          <a:prstGeom prst="roundRect">
            <a:avLst>
              <a:gd name="adj" fmla="val 6667"/>
            </a:avLst>
          </a:prstGeom>
          <a:solidFill>
            <a:srgbClr val="261E18"/>
          </a:solidFill>
          <a:ln w="12700">
            <a:solidFill>
              <a:srgbClr val="3A2B2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310896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💾 Persistent Local State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60120" y="347472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D4C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 profiles and custom delivery notes are stored securely in browser LocalStorage, preventing accidental data loss upon page refresh.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63440" y="2926080"/>
            <a:ext cx="3749040" cy="1371600"/>
          </a:xfrm>
          <a:prstGeom prst="roundRect">
            <a:avLst>
              <a:gd name="adj" fmla="val 6667"/>
            </a:avLst>
          </a:prstGeom>
          <a:solidFill>
            <a:srgbClr val="261E18"/>
          </a:solidFill>
          <a:ln w="12700">
            <a:solidFill>
              <a:srgbClr val="3A2B2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92040" y="310896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👛 Smart Tiffin Wallet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92040" y="347472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D4C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Auto-credited whenever a meal is paused before 7:00 AM. Includes +৳500 registration welcome bonus and promo code redemptions.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31520" y="4709160"/>
            <a:ext cx="7680960" cy="0"/>
          </a:xfrm>
          <a:prstGeom prst="line">
            <a:avLst/>
          </a:prstGeom>
          <a:noFill/>
          <a:ln w="12700">
            <a:solidFill>
              <a:srgbClr val="382A2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48006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E7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TIFFIN • Smart School Tiffin Platform (Dhaka, Bangladesh)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6217920" y="48006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5 of 13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712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E85D0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CUSTOMIZATION &amp; PAEDIATRIC TOOLS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54864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Interactive 3D Bento Builder &amp; Nutrition Calculator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96012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C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Empowering parents and children to custom-craft meals with live clinical macronutrient feedback.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1371600"/>
            <a:ext cx="3749040" cy="3017520"/>
          </a:xfrm>
          <a:prstGeom prst="roundRect">
            <a:avLst>
              <a:gd name="adj" fmla="val 3030"/>
            </a:avLst>
          </a:prstGeom>
          <a:solidFill>
            <a:srgbClr val="261E18"/>
          </a:solidFill>
          <a:ln w="19050">
            <a:solidFill>
              <a:srgbClr val="E85D0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55448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🍱 Interactive 4-Compartment Bento Builder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14400" y="1920240"/>
            <a:ext cx="33832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D4C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Slot 1: Main Protein (Chicken, Salmon, Turkey, Paneer)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D4C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Slot 2: Low-GI Grain (Basmati Rice, Quinoa, Sweet Potato)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D4C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Slot 3: Steamed Veggies (Broccoli, Edamame, Sweetcorn)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D4C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Slot 4: Fresh Fruit &amp; Dessert (Watermelon, Kiwi, Chia)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D4C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Live Paediatric Macro Scorecard (Calories, Protein, Carbs, Fat)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D4C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1-Click Doctor Approved Combos (Omega Brain Fuel, Vegan)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663440" y="1371600"/>
            <a:ext cx="3749040" cy="3017520"/>
          </a:xfrm>
          <a:prstGeom prst="roundRect">
            <a:avLst>
              <a:gd name="adj" fmla="val 3030"/>
            </a:avLst>
          </a:prstGeom>
          <a:solidFill>
            <a:srgbClr val="261E18"/>
          </a:solidFill>
          <a:ln w="12700">
            <a:solidFill>
              <a:srgbClr val="42332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155448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🧮 Paediatric Nutrition Calculator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846320" y="1920240"/>
            <a:ext cx="33832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D4C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Interactive Age Slider: Calibrated for ages 3 to 18 years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D4C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Activity Multiplier: Low, Moderate, High &amp; Athlete modes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D4C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Appetite Tuning: Light, Normal, and Hearty portions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D4C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Health Goals: Sustained Energy, Linear Growth, Immunity, Focus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D4C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Midday RDA Target: Outputs exact Calories, Protein (g) &amp; Hydration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D4C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Instant PDF Export: Download personalized diet charts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31520" y="4709160"/>
            <a:ext cx="7680960" cy="0"/>
          </a:xfrm>
          <a:prstGeom prst="line">
            <a:avLst/>
          </a:prstGeom>
          <a:noFill/>
          <a:ln w="12700">
            <a:solidFill>
              <a:srgbClr val="382A2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48006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E7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TIFFIN • Smart School Tiffin Platform (Dhaka, Bangladesh)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6217920" y="48006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6 of 13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712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E85D0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CULINARY DIVERSITY &amp; HERITAGE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54864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Dhaka Premier Cloud Kitchens &amp; Restaurant Partners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96012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C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Delivering authentic chef specialties sealed in thermal packaging to student lockers and office desks.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1371600"/>
            <a:ext cx="2468880" cy="1371600"/>
          </a:xfrm>
          <a:prstGeom prst="roundRect">
            <a:avLst>
              <a:gd name="adj" fmla="val 6667"/>
            </a:avLst>
          </a:prstGeom>
          <a:solidFill>
            <a:srgbClr val="261E18"/>
          </a:solidFill>
          <a:ln w="12700">
            <a:solidFill>
              <a:srgbClr val="382B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50876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4.98 ⭐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68680" y="150876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Sultan's Dine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68680" y="18745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Dhanmondi, Gulshan-2 &amp; Uttara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68680" y="219456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C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Basmati Mutton Kacchi &amp; Shahi Polao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337560" y="1371600"/>
            <a:ext cx="2468880" cy="1371600"/>
          </a:xfrm>
          <a:prstGeom prst="roundRect">
            <a:avLst>
              <a:gd name="adj" fmla="val 6667"/>
            </a:avLst>
          </a:prstGeom>
          <a:solidFill>
            <a:srgbClr val="261E18"/>
          </a:solidFill>
          <a:ln w="12700">
            <a:solidFill>
              <a:srgbClr val="382B2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0" y="150876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4.92 ⭐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474720" y="150876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Star Kabab &amp; Restaurant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474720" y="18745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Banani &amp; Dhanmondi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474720" y="219456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C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Charcoal Chicken Boti &amp; Mutton Roast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943600" y="1371600"/>
            <a:ext cx="2468880" cy="1371600"/>
          </a:xfrm>
          <a:prstGeom prst="roundRect">
            <a:avLst>
              <a:gd name="adj" fmla="val 6667"/>
            </a:avLst>
          </a:prstGeom>
          <a:solidFill>
            <a:srgbClr val="261E18"/>
          </a:solidFill>
          <a:ln w="12700">
            <a:solidFill>
              <a:srgbClr val="382B2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80760" y="150876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4.93 ⭐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080760" y="150876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Takeout Burgers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080760" y="18745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Banani Road 11 &amp; Dhanmondi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6080760" y="219456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C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Juicy Smash Beef Burgers &amp; Wedges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31520" y="2926080"/>
            <a:ext cx="2468880" cy="1371600"/>
          </a:xfrm>
          <a:prstGeom prst="roundRect">
            <a:avLst>
              <a:gd name="adj" fmla="val 6667"/>
            </a:avLst>
          </a:prstGeom>
          <a:solidFill>
            <a:srgbClr val="261E18"/>
          </a:solidFill>
          <a:ln w="12700">
            <a:solidFill>
              <a:srgbClr val="382B2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" y="306324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4.96 ⭐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68680" y="306324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Yum Cha District &amp; Bento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68680" y="34290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Gulshan-2 &amp; Banani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868680" y="374904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C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Steamed Crystal Dim Sum &amp; Teriyaki Salmon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337560" y="2926080"/>
            <a:ext cx="2468880" cy="1371600"/>
          </a:xfrm>
          <a:prstGeom prst="roundRect">
            <a:avLst>
              <a:gd name="adj" fmla="val 6667"/>
            </a:avLst>
          </a:prstGeom>
          <a:solidFill>
            <a:srgbClr val="261E18"/>
          </a:solidFill>
          <a:ln w="12700">
            <a:solidFill>
              <a:srgbClr val="382B2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74720" y="306324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4.92 ⭐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474720" y="306324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Spaghetti Jazz Trattoria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474720" y="34290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Gulshan-2 &amp; Dhanmondi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3474720" y="374904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C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Handcrafted Fettuccine &amp; Pomodoro Sugo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943600" y="2926080"/>
            <a:ext cx="2468880" cy="1371600"/>
          </a:xfrm>
          <a:prstGeom prst="roundRect">
            <a:avLst>
              <a:gd name="adj" fmla="val 6667"/>
            </a:avLst>
          </a:prstGeom>
          <a:solidFill>
            <a:srgbClr val="261E18"/>
          </a:solidFill>
          <a:ln w="12700">
            <a:solidFill>
              <a:srgbClr val="382B2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080760" y="306324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4.91 ⭐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080760" y="306324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Shawarma House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080760" y="34290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Gulshan Avenue &amp; Dhanmondi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6080760" y="374904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C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Flame-Grilled Chicken Shawarma &amp; Kofta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731520" y="4709160"/>
            <a:ext cx="7680960" cy="0"/>
          </a:xfrm>
          <a:prstGeom prst="line">
            <a:avLst/>
          </a:prstGeom>
          <a:noFill/>
          <a:ln w="12700">
            <a:solidFill>
              <a:srgbClr val="382A2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31520" y="48006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E7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TIFFIN • Smart School Tiffin Platform (Dhaka, Bangladesh)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6217920" y="48006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7 of 13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712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E85D0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ARTIFICIAL INTELLIGENCE &amp; GUIDANCE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54864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TIFFIN Nutribot: AI Paediatric Meal Advisor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96012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C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Google Gemini 2.5 Flash with deep clinical knowledge &amp; instant interactive responses.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1371600"/>
            <a:ext cx="3749040" cy="1371600"/>
          </a:xfrm>
          <a:prstGeom prst="roundRect">
            <a:avLst>
              <a:gd name="adj" fmla="val 6667"/>
            </a:avLst>
          </a:prstGeom>
          <a:solidFill>
            <a:srgbClr val="261E18"/>
          </a:solidFill>
          <a:ln w="12700">
            <a:solidFill>
              <a:srgbClr val="382B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5544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🤖 Google Gemini 2.5 Flash Integration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60120" y="192024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D4C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 parent queries regarding childhood nutrition, exam-term focus food, allergy safety, and stamina requirements in real time.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663440" y="1371600"/>
            <a:ext cx="3749040" cy="1371600"/>
          </a:xfrm>
          <a:prstGeom prst="roundRect">
            <a:avLst>
              <a:gd name="adj" fmla="val 6667"/>
            </a:avLst>
          </a:prstGeom>
          <a:solidFill>
            <a:srgbClr val="261E18"/>
          </a:solidFill>
          <a:ln w="12700">
            <a:solidFill>
              <a:srgbClr val="382B2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15544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🛡️ Clinical Paediatric Guardrails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92040" y="192024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D4C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 system prompts enforce strict paediatric nutrition standards (WHO, British Nutrition Foundation, AAP guidelines).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31520" y="2926080"/>
            <a:ext cx="3749040" cy="1371600"/>
          </a:xfrm>
          <a:prstGeom prst="roundRect">
            <a:avLst>
              <a:gd name="adj" fmla="val 6667"/>
            </a:avLst>
          </a:prstGeom>
          <a:solidFill>
            <a:srgbClr val="261E18"/>
          </a:solidFill>
          <a:ln w="12700">
            <a:solidFill>
              <a:srgbClr val="382B2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310896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⚡ Dual-Engine Reliability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60120" y="347472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D4C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Seamless fallback heuristic engine guarantees zero downtime even during offline states or network interruptions.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63440" y="2926080"/>
            <a:ext cx="3749040" cy="1371600"/>
          </a:xfrm>
          <a:prstGeom prst="roundRect">
            <a:avLst>
              <a:gd name="adj" fmla="val 6667"/>
            </a:avLst>
          </a:prstGeom>
          <a:solidFill>
            <a:srgbClr val="261E18"/>
          </a:solidFill>
          <a:ln w="12700">
            <a:solidFill>
              <a:srgbClr val="382B2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92040" y="310896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💡 Contextual Meal Recommendations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92040" y="347472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D4C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Recommends specific weekly menu dishes (e.g. Teriyaki Salmon for Omega-3 focus, Paneer Pulao for bone growth).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31520" y="4709160"/>
            <a:ext cx="7680960" cy="0"/>
          </a:xfrm>
          <a:prstGeom prst="line">
            <a:avLst/>
          </a:prstGeom>
          <a:noFill/>
          <a:ln w="12700">
            <a:solidFill>
              <a:srgbClr val="382A2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48006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E7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TIFFIN • Smart School Tiffin Platform (Dhaka, Bangladesh)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6217920" y="48006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8 of 13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712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E85D0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CLIENT-SIDE DOCUMENT GENERATION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54864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Certified Paediatric Growth Reports &amp; Tax Invoicing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96012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C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client-side PDF export engine with medical certifications, macro audits, and tax receipts.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1371600"/>
            <a:ext cx="2468880" cy="3017520"/>
          </a:xfrm>
          <a:prstGeom prst="roundRect">
            <a:avLst>
              <a:gd name="adj" fmla="val 3704"/>
            </a:avLst>
          </a:prstGeom>
          <a:solidFill>
            <a:srgbClr val="261E18"/>
          </a:solidFill>
          <a:ln w="12700">
            <a:solidFill>
              <a:srgbClr val="4233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60020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📊 Monthly Paediatric Nutrition Report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2240280"/>
            <a:ext cx="21031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D4C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medical document containing student profile, school locker, monthly caloric RDA scorecard, bioavailable protein &amp; micronutrient analysis (Calcium, Iron, Zinc, Vitamin D3), food safety temperature audit, and doctor clinical sign-off.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337560" y="1371600"/>
            <a:ext cx="2468880" cy="3017520"/>
          </a:xfrm>
          <a:prstGeom prst="roundRect">
            <a:avLst>
              <a:gd name="adj" fmla="val 3704"/>
            </a:avLst>
          </a:prstGeom>
          <a:solidFill>
            <a:srgbClr val="261E18"/>
          </a:solidFill>
          <a:ln w="12700">
            <a:solidFill>
              <a:srgbClr val="42332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20440" y="160020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🧾 Electronic Tax Invoice &amp; Receipt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520440" y="2240280"/>
            <a:ext cx="21031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D4C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billing breakdown with unique Invoice ID, date, meal subscription plan, 0% VAT tax exemption notes, parent contact details, and electronic verification seal.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943600" y="1371600"/>
            <a:ext cx="2468880" cy="3017520"/>
          </a:xfrm>
          <a:prstGeom prst="roundRect">
            <a:avLst>
              <a:gd name="adj" fmla="val 3704"/>
            </a:avLst>
          </a:prstGeom>
          <a:solidFill>
            <a:srgbClr val="261E18"/>
          </a:solidFill>
          <a:ln w="12700">
            <a:solidFill>
              <a:srgbClr val="42332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0" y="160020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🧮 Personalized Diet Prescription PDF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126480" y="2240280"/>
            <a:ext cx="21031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D4C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export from the Kid Nutrition Calculator detailing child age, activity multipliers, appetite factors, and recommended meal plan reasoning.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31520" y="4709160"/>
            <a:ext cx="7680960" cy="0"/>
          </a:xfrm>
          <a:prstGeom prst="line">
            <a:avLst/>
          </a:prstGeom>
          <a:noFill/>
          <a:ln w="12700">
            <a:solidFill>
              <a:srgbClr val="382A2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48006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E7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TIFFIN • Smart School Tiffin Platform (Dhaka, Bangladesh)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6217920" y="48006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9 of 13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712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E85D0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QUALITY, SAFETY &amp; COMPLIANCE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54864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IoT Hot-Chain Telemetry &amp; Food Safety Standards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96012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C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Maintaining verifiable medical-grade temperature chains and stringent hygiene audits across Dhaka.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1371600"/>
            <a:ext cx="1828800" cy="3017520"/>
          </a:xfrm>
          <a:prstGeom prst="roundRect">
            <a:avLst>
              <a:gd name="adj" fmla="val 5000"/>
            </a:avLst>
          </a:prstGeom>
          <a:solidFill>
            <a:srgbClr val="261E18"/>
          </a:solidFill>
          <a:ln w="12700">
            <a:solidFill>
              <a:srgbClr val="382B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55448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 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68680" y="178308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74.5°C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219456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Kitchen Cook-Seal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68680" y="2560320"/>
            <a:ext cx="15544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D4C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Oven-baked and vacuum-sealed in sterilized stainless steel chambers at Central Commissary.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697480" y="1371600"/>
            <a:ext cx="1828800" cy="3017520"/>
          </a:xfrm>
          <a:prstGeom prst="roundRect">
            <a:avLst>
              <a:gd name="adj" fmla="val 5000"/>
            </a:avLst>
          </a:prstGeom>
          <a:solidFill>
            <a:srgbClr val="261E18"/>
          </a:solidFill>
          <a:ln w="12700">
            <a:solidFill>
              <a:srgbClr val="382B2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834640" y="155448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 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834640" y="178308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71.0°C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834640" y="219456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Thermal Transit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834640" y="2560320"/>
            <a:ext cx="15544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D4C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Dispatched in insulated electric vans with GPS route-optimization across Dhaka schools.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63440" y="1371600"/>
            <a:ext cx="1828800" cy="3017520"/>
          </a:xfrm>
          <a:prstGeom prst="roundRect">
            <a:avLst>
              <a:gd name="adj" fmla="val 5000"/>
            </a:avLst>
          </a:prstGeom>
          <a:solidFill>
            <a:srgbClr val="261E18"/>
          </a:solidFill>
          <a:ln w="12700">
            <a:solidFill>
              <a:srgbClr val="382B2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0600" y="155448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 3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800600" y="178308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68.4°C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800600" y="219456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School Gate Arrival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00600" y="2560320"/>
            <a:ext cx="15544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D4C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Logged at school entrance by dedicated tiffin stewards before student lunch bell rings.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629400" y="1371600"/>
            <a:ext cx="1828800" cy="3017520"/>
          </a:xfrm>
          <a:prstGeom prst="roundRect">
            <a:avLst>
              <a:gd name="adj" fmla="val 5000"/>
            </a:avLst>
          </a:prstGeom>
          <a:solidFill>
            <a:srgbClr val="261E18"/>
          </a:solidFill>
          <a:ln w="12700">
            <a:solidFill>
              <a:srgbClr val="382B2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66560" y="155448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 4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766560" y="178308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85.0°C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766560" y="219456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Autoclave Sanitization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766560" y="2560320"/>
            <a:ext cx="15544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D4C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containers returned daily and steam-sanitized at 85°C UV-C before next morning prep.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31520" y="4709160"/>
            <a:ext cx="7680960" cy="0"/>
          </a:xfrm>
          <a:prstGeom prst="line">
            <a:avLst/>
          </a:prstGeom>
          <a:noFill/>
          <a:ln w="12700">
            <a:solidFill>
              <a:srgbClr val="382A2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1520" y="48006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E7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TIFFIN • Smart School Tiffin Platform (Dhaka, Bangladesh)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6217920" y="48006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10 of 13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712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E85D0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ENGINEERING &amp; TECH STACK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54864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Modern Full-Stack Technical Architecture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96012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C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 for blazing fast speed, responsiveness, clean modularity, and offline resilience.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1371600"/>
            <a:ext cx="3749040" cy="1371600"/>
          </a:xfrm>
          <a:prstGeom prst="roundRect">
            <a:avLst>
              <a:gd name="adj" fmla="val 6667"/>
            </a:avLst>
          </a:prstGeom>
          <a:solidFill>
            <a:srgbClr val="261E18"/>
          </a:solidFill>
          <a:ln w="12700">
            <a:solidFill>
              <a:srgbClr val="382B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536192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Frontend &amp; UI Framework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960120" y="1755648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React 19 • TypeScript • Tailwind CSS v4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60120" y="210312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D4C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architecture with high-performance component tree, custom glassmorphism styling, and responsive layout.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663440" y="1371600"/>
            <a:ext cx="3749040" cy="1371600"/>
          </a:xfrm>
          <a:prstGeom prst="roundRect">
            <a:avLst>
              <a:gd name="adj" fmla="val 6667"/>
            </a:avLst>
          </a:prstGeom>
          <a:solidFill>
            <a:srgbClr val="261E18"/>
          </a:solidFill>
          <a:ln w="12700">
            <a:solidFill>
              <a:srgbClr val="382B2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536192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Motion &amp; Visualizations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892040" y="1755648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Motion • Recharts • Lucide React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92040" y="210312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D4C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Silky micro-animations, dynamic radar &amp; macro area charts, and clean responsive icon system.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31520" y="2926080"/>
            <a:ext cx="3749040" cy="1371600"/>
          </a:xfrm>
          <a:prstGeom prst="roundRect">
            <a:avLst>
              <a:gd name="adj" fmla="val 6667"/>
            </a:avLst>
          </a:prstGeom>
          <a:solidFill>
            <a:srgbClr val="261E18"/>
          </a:solidFill>
          <a:ln w="12700">
            <a:solidFill>
              <a:srgbClr val="382B2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3090672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Backend &amp; Development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960120" y="3310128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Node.js • Express.js • Vite 6 • tsx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60120" y="365760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D4C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API server with Vite Hot-Module Replacement (HMR) for instant development feedback.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663440" y="2926080"/>
            <a:ext cx="3749040" cy="1371600"/>
          </a:xfrm>
          <a:prstGeom prst="roundRect">
            <a:avLst>
              <a:gd name="adj" fmla="val 6667"/>
            </a:avLst>
          </a:prstGeom>
          <a:solidFill>
            <a:srgbClr val="261E18"/>
          </a:solidFill>
          <a:ln w="12700">
            <a:solidFill>
              <a:srgbClr val="382B2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3090672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PDF &amp; AI Intelligence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892040" y="3310128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jsPDF • Google Gemini 2.5 Flash API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92040" y="365760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D4C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Client-side vector PDF generation engine paired with Google Gemini AI for smart paediatric reasoning.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731520" y="4709160"/>
            <a:ext cx="7680960" cy="0"/>
          </a:xfrm>
          <a:prstGeom prst="line">
            <a:avLst/>
          </a:prstGeom>
          <a:noFill/>
          <a:ln w="12700">
            <a:solidFill>
              <a:srgbClr val="382A2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48006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E7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TIFFIN • Smart School Tiffin Platform (Dhaka, Bangladesh)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6217920" y="48006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11 of 13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712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E85D0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BUSINESS &amp; SUSTAINABILITY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54864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Subscription Economics &amp; Growth Model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96012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C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retention, recurring revenue model built on centralized bulk procurement and clustered school routes.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1371600"/>
            <a:ext cx="3749040" cy="1371600"/>
          </a:xfrm>
          <a:prstGeom prst="roundRect">
            <a:avLst>
              <a:gd name="adj" fmla="val 6667"/>
            </a:avLst>
          </a:prstGeom>
          <a:solidFill>
            <a:srgbClr val="261E18"/>
          </a:solidFill>
          <a:ln w="12700">
            <a:solidFill>
              <a:srgbClr val="382B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5544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🔄 Recurring Subscription Revenue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60120" y="192024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D4C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Predictable monthly and term subscriptions (Basic ৳4,400/mo, Standard ৳6,400/mo, Premium ৳9,000/mo) ensure high customer lifetime value (LTV).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663440" y="1371600"/>
            <a:ext cx="3749040" cy="1371600"/>
          </a:xfrm>
          <a:prstGeom prst="roundRect">
            <a:avLst>
              <a:gd name="adj" fmla="val 6667"/>
            </a:avLst>
          </a:prstGeom>
          <a:solidFill>
            <a:srgbClr val="261E18"/>
          </a:solidFill>
          <a:ln w="12700">
            <a:solidFill>
              <a:srgbClr val="382B2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15544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📈 High-Margin Add-Ons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92040" y="192024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D4C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Cold-pressed juices (+৳80), probiotic yoghurt pots (+৳50), and seasonal fruit bowls (+৳60) increase average order value (AOV) by 24%.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31520" y="2926080"/>
            <a:ext cx="3749040" cy="1371600"/>
          </a:xfrm>
          <a:prstGeom prst="roundRect">
            <a:avLst>
              <a:gd name="adj" fmla="val 6667"/>
            </a:avLst>
          </a:prstGeom>
          <a:solidFill>
            <a:srgbClr val="261E18"/>
          </a:solidFill>
          <a:ln w="12700">
            <a:solidFill>
              <a:srgbClr val="382B2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310896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🚚 Route Density &amp; Clustered Logistics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60120" y="347472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D4C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Delivering 50-100 meals to a single school campus (e.g. Scholastica Uttara) reduces per-unit delivery cost to less than ৳15 per tiffin.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63440" y="2926080"/>
            <a:ext cx="3749040" cy="1371600"/>
          </a:xfrm>
          <a:prstGeom prst="roundRect">
            <a:avLst>
              <a:gd name="adj" fmla="val 6667"/>
            </a:avLst>
          </a:prstGeom>
          <a:solidFill>
            <a:srgbClr val="261E18"/>
          </a:solidFill>
          <a:ln w="12700">
            <a:solidFill>
              <a:srgbClr val="382B2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92040" y="310896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🤝 Restaurant Partner Commissions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92040" y="347472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D4C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kitchen partnerships with top Dhaka restaurants generate 15-20% commission per order while leveraging off-peak morning kitchen capacity.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31520" y="4709160"/>
            <a:ext cx="7680960" cy="0"/>
          </a:xfrm>
          <a:prstGeom prst="line">
            <a:avLst/>
          </a:prstGeom>
          <a:noFill/>
          <a:ln w="12700">
            <a:solidFill>
              <a:srgbClr val="382A2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48006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E7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TIFFIN • Smart School Tiffin Platform (Dhaka, Bangladesh)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6217920" y="48006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12 of 13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712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E85D0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1148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FUTURE ROADMAP &amp; SUMMARY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6858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Transforming School Nutrition Across Bangladesh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325880"/>
            <a:ext cx="2468880" cy="1554480"/>
          </a:xfrm>
          <a:prstGeom prst="roundRect">
            <a:avLst>
              <a:gd name="adj" fmla="val 5882"/>
            </a:avLst>
          </a:prstGeom>
          <a:solidFill>
            <a:srgbClr val="261E18"/>
          </a:solidFill>
          <a:ln w="12700">
            <a:solidFill>
              <a:srgbClr val="382B2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4630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1 (Completed)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1783080"/>
            <a:ext cx="2103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D4C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Dhaka platform launch, 77+ menu items, 3D bento builder, BDT pricing, and PDF reporting.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337560" y="1325880"/>
            <a:ext cx="2468880" cy="1554480"/>
          </a:xfrm>
          <a:prstGeom prst="roundRect">
            <a:avLst>
              <a:gd name="adj" fmla="val 5882"/>
            </a:avLst>
          </a:prstGeom>
          <a:solidFill>
            <a:srgbClr val="261E18"/>
          </a:solidFill>
          <a:ln w="12700">
            <a:solidFill>
              <a:srgbClr val="382B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20440" y="14630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2 (Q4 2026)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520440" y="1783080"/>
            <a:ext cx="2103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D4C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RFID school locker integration for automated temperature and drop-off confirmation.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943600" y="1325880"/>
            <a:ext cx="2468880" cy="1554480"/>
          </a:xfrm>
          <a:prstGeom prst="roundRect">
            <a:avLst>
              <a:gd name="adj" fmla="val 5882"/>
            </a:avLst>
          </a:prstGeom>
          <a:solidFill>
            <a:srgbClr val="261E18"/>
          </a:solidFill>
          <a:ln w="12700">
            <a:solidFill>
              <a:srgbClr val="382B2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26480" y="14630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3 (2027)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126480" y="1783080"/>
            <a:ext cx="2103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D4C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 to Chittagong and Sylhet English medium schools and native iOS/Android mobile apps.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31520" y="3063240"/>
            <a:ext cx="7680960" cy="1463040"/>
          </a:xfrm>
          <a:prstGeom prst="roundRect">
            <a:avLst>
              <a:gd name="adj" fmla="val 7500"/>
            </a:avLst>
          </a:prstGeom>
          <a:solidFill>
            <a:srgbClr val="26150C"/>
          </a:solidFill>
          <a:ln w="19050">
            <a:solidFill>
              <a:srgbClr val="E85D0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3200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You! • Questions &amp; Discussion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14400" y="36576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Platform: www.smart-tiffin.bd   |   📞 Hotline: +880 1700-TIFFIN   |   💻 GitHub: github.com/RAHAT1028/Tiffin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14400" y="40233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D4C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to wholesome health, cognitive vitality, and happy school days for every child.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731520" y="4709160"/>
            <a:ext cx="7680960" cy="0"/>
          </a:xfrm>
          <a:prstGeom prst="line">
            <a:avLst/>
          </a:prstGeom>
          <a:noFill/>
          <a:ln w="12700">
            <a:solidFill>
              <a:srgbClr val="382A2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48006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E7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TIFFIN • Smart School Tiffin Platform (Dhaka, Bangladesh)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6217920" y="48006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13 of 13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TIFFIN Bangladesh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TIFFIN - Smart School Tiffin Platform Presentation</dc:title>
  <dc:subject>Comprehensive Project Presentation</dc:subject>
  <dc:creator>Smart School Tiffin Team</dc:creator>
  <cp:lastModifiedBy>Smart School Tiffin Team</cp:lastModifiedBy>
  <cp:revision>1</cp:revision>
  <dcterms:created xsi:type="dcterms:W3CDTF">2026-09-09T18:22:38Z</dcterms:created>
  <dcterms:modified xsi:type="dcterms:W3CDTF">2026-09-09T18:22:38Z</dcterms:modified>
</cp:coreProperties>
</file>